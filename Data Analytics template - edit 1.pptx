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</p:sldIdLst>
  <p:sldSz cx="18288000" cy="10287000"/>
  <p:notesSz cx="6858000" cy="9144000"/>
  <p:embeddedFontLst>
    <p:embeddedFont>
      <p:font typeface="Lexend" panose="020B0604020202020204" charset="0"/>
      <p:regular r:id="rId12"/>
      <p:bold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UjPcPf0CShmuiDtbgDllxn0Nv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9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30.09.2022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30.09.2022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30.09.2022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30.09.2022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30.09.2022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30.09.2022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30.09.2022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30.09.2022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30.09.2022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6394731" y="0"/>
            <a:ext cx="1893269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1"/>
          <p:cNvGrpSpPr/>
          <p:nvPr/>
        </p:nvGrpSpPr>
        <p:grpSpPr>
          <a:xfrm>
            <a:off x="6545735" y="406153"/>
            <a:ext cx="10042534" cy="9474693"/>
            <a:chOff x="0" y="0"/>
            <a:chExt cx="13390046" cy="12632924"/>
          </a:xfrm>
        </p:grpSpPr>
        <p:pic>
          <p:nvPicPr>
            <p:cNvPr id="94" name="Google Shape;94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6923321" y="0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6923321" y="3279405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6923321" y="6558809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461660" y="0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0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3279405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6558809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384981" y="0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384981" y="3279405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384981" y="6558809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p1"/>
          <p:cNvGrpSpPr/>
          <p:nvPr/>
        </p:nvGrpSpPr>
        <p:grpSpPr>
          <a:xfrm>
            <a:off x="1104899" y="824285"/>
            <a:ext cx="8750844" cy="8318193"/>
            <a:chOff x="-1" y="-1"/>
            <a:chExt cx="11667792" cy="11090924"/>
          </a:xfrm>
        </p:grpSpPr>
        <p:sp>
          <p:nvSpPr>
            <p:cNvPr id="111" name="Google Shape;111;p1"/>
            <p:cNvSpPr/>
            <p:nvPr/>
          </p:nvSpPr>
          <p:spPr>
            <a:xfrm>
              <a:off x="1931835" y="1354967"/>
              <a:ext cx="9735956" cy="9735956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2831A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2" name="Google Shape;112;p1"/>
            <p:cNvPicPr preferRelativeResize="0"/>
            <p:nvPr/>
          </p:nvPicPr>
          <p:blipFill rotWithShape="1">
            <a:blip r:embed="rId4">
              <a:alphaModFix/>
            </a:blip>
            <a:srcRect b="320"/>
            <a:stretch/>
          </p:blipFill>
          <p:spPr>
            <a:xfrm rot="-5115457">
              <a:off x="396140" y="376277"/>
              <a:ext cx="9735956" cy="97567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"/>
          <p:cNvSpPr txBox="1"/>
          <p:nvPr/>
        </p:nvSpPr>
        <p:spPr>
          <a:xfrm>
            <a:off x="2251325" y="2896874"/>
            <a:ext cx="5483100" cy="41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4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6533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Giving social Buzz the boost it needs</a:t>
            </a:r>
            <a:endParaRPr sz="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801450" y="997150"/>
            <a:ext cx="75933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Good morning Accenture</a:t>
            </a:r>
            <a:endParaRPr sz="4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11548700" y="3897050"/>
            <a:ext cx="3998700" cy="24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3459525" y="3958100"/>
            <a:ext cx="14855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2"/>
          <p:cNvGrpSpPr/>
          <p:nvPr/>
        </p:nvGrpSpPr>
        <p:grpSpPr>
          <a:xfrm>
            <a:off x="2921591" y="3285301"/>
            <a:ext cx="8673525" cy="6402951"/>
            <a:chOff x="0" y="0"/>
            <a:chExt cx="11564700" cy="8537267"/>
          </a:xfrm>
        </p:grpSpPr>
        <p:sp>
          <p:nvSpPr>
            <p:cNvPr id="126" name="Google Shape;126;p2"/>
            <p:cNvSpPr txBox="1"/>
            <p:nvPr/>
          </p:nvSpPr>
          <p:spPr>
            <a:xfrm>
              <a:off x="0" y="0"/>
              <a:ext cx="11564591" cy="1641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8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Today's agenda</a:t>
              </a:r>
              <a:endParaRPr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0" y="2298167"/>
              <a:ext cx="11564700" cy="623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3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Project recap</a:t>
              </a:r>
              <a:endParaRPr sz="330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3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Problem</a:t>
              </a:r>
              <a:endParaRPr sz="330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3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Analytics team</a:t>
              </a:r>
              <a:endParaRPr sz="330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3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Process</a:t>
              </a:r>
              <a:endParaRPr sz="330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3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Insights</a:t>
              </a:r>
              <a:endParaRPr sz="330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3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Summary</a:t>
              </a:r>
              <a:endParaRPr sz="3300"/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15307242" y="-1685151"/>
            <a:ext cx="3545508" cy="3370302"/>
            <a:chOff x="0" y="0"/>
            <a:chExt cx="4727344" cy="4493736"/>
          </a:xfrm>
        </p:grpSpPr>
        <p:sp>
          <p:nvSpPr>
            <p:cNvPr id="129" name="Google Shape;129;p2"/>
            <p:cNvSpPr/>
            <p:nvPr/>
          </p:nvSpPr>
          <p:spPr>
            <a:xfrm>
              <a:off x="644072" y="410464"/>
              <a:ext cx="4083272" cy="4083272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0" name="Google Shape;130;p2"/>
            <p:cNvPicPr preferRelativeResize="0"/>
            <p:nvPr/>
          </p:nvPicPr>
          <p:blipFill rotWithShape="1">
            <a:blip r:embed="rId3">
              <a:alphaModFix/>
            </a:blip>
            <a:srcRect b="320"/>
            <a:stretch/>
          </p:blipFill>
          <p:spPr>
            <a:xfrm>
              <a:off x="0" y="0"/>
              <a:ext cx="4083272" cy="40919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2"/>
          <p:cNvGrpSpPr/>
          <p:nvPr/>
        </p:nvGrpSpPr>
        <p:grpSpPr>
          <a:xfrm>
            <a:off x="13610070" y="3458349"/>
            <a:ext cx="3545508" cy="3370302"/>
            <a:chOff x="0" y="0"/>
            <a:chExt cx="4727344" cy="4493736"/>
          </a:xfrm>
        </p:grpSpPr>
        <p:sp>
          <p:nvSpPr>
            <p:cNvPr id="132" name="Google Shape;132;p2"/>
            <p:cNvSpPr/>
            <p:nvPr/>
          </p:nvSpPr>
          <p:spPr>
            <a:xfrm>
              <a:off x="644072" y="410464"/>
              <a:ext cx="4083272" cy="4083272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3" name="Google Shape;133;p2"/>
            <p:cNvPicPr preferRelativeResize="0"/>
            <p:nvPr/>
          </p:nvPicPr>
          <p:blipFill rotWithShape="1">
            <a:blip r:embed="rId3">
              <a:alphaModFix/>
            </a:blip>
            <a:srcRect b="320"/>
            <a:stretch/>
          </p:blipFill>
          <p:spPr>
            <a:xfrm>
              <a:off x="0" y="0"/>
              <a:ext cx="4083272" cy="40919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2"/>
          <p:cNvGrpSpPr/>
          <p:nvPr/>
        </p:nvGrpSpPr>
        <p:grpSpPr>
          <a:xfrm>
            <a:off x="11912898" y="8601849"/>
            <a:ext cx="3545508" cy="3370302"/>
            <a:chOff x="0" y="0"/>
            <a:chExt cx="4727344" cy="4493736"/>
          </a:xfrm>
        </p:grpSpPr>
        <p:sp>
          <p:nvSpPr>
            <p:cNvPr id="135" name="Google Shape;135;p2"/>
            <p:cNvSpPr/>
            <p:nvPr/>
          </p:nvSpPr>
          <p:spPr>
            <a:xfrm>
              <a:off x="644072" y="410464"/>
              <a:ext cx="4083272" cy="4083272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6" name="Google Shape;136;p2"/>
            <p:cNvPicPr preferRelativeResize="0"/>
            <p:nvPr/>
          </p:nvPicPr>
          <p:blipFill rotWithShape="1">
            <a:blip r:embed="rId3">
              <a:alphaModFix/>
            </a:blip>
            <a:srcRect b="320"/>
            <a:stretch/>
          </p:blipFill>
          <p:spPr>
            <a:xfrm>
              <a:off x="0" y="0"/>
              <a:ext cx="4083272" cy="40919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" name="Google Shape;137;p2"/>
          <p:cNvGrpSpPr/>
          <p:nvPr/>
        </p:nvGrpSpPr>
        <p:grpSpPr>
          <a:xfrm>
            <a:off x="-927557" y="406153"/>
            <a:ext cx="2253799" cy="9474693"/>
            <a:chOff x="0" y="0"/>
            <a:chExt cx="3005065" cy="12632924"/>
          </a:xfrm>
        </p:grpSpPr>
        <p:pic>
          <p:nvPicPr>
            <p:cNvPr id="138" name="Google Shape;138;p2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0" y="0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0" y="3279405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2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0" y="6558809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2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0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3"/>
          <p:cNvGrpSpPr/>
          <p:nvPr/>
        </p:nvGrpSpPr>
        <p:grpSpPr>
          <a:xfrm>
            <a:off x="517113" y="584601"/>
            <a:ext cx="17253775" cy="9117799"/>
            <a:chOff x="0" y="0"/>
            <a:chExt cx="23005033" cy="12157065"/>
          </a:xfrm>
        </p:grpSpPr>
        <p:pic>
          <p:nvPicPr>
            <p:cNvPr id="151" name="Google Shape;151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6760969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6760969" y="3155875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6760969" y="6311751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6760969" y="9467626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3408776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3408776" y="3155875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3408776" y="6311751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3408776" y="9467626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056582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056582" y="3155875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056582" y="6311751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056582" y="9467626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20113163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20113163" y="3155875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20113163" y="6311751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20113163" y="9467626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6704388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6704388" y="3155875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6704388" y="6311751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6704388" y="9467626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352194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352194" y="3155875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352194" y="6311751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352194" y="9467626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3155875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6311751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3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9467626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3"/>
          <p:cNvSpPr/>
          <p:nvPr/>
        </p:nvSpPr>
        <p:spPr>
          <a:xfrm>
            <a:off x="4946896" y="2005584"/>
            <a:ext cx="11342283" cy="62758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" name="Google Shape;180;p3"/>
          <p:cNvPicPr preferRelativeResize="0"/>
          <p:nvPr/>
        </p:nvPicPr>
        <p:blipFill rotWithShape="1">
          <a:blip r:embed="rId4">
            <a:alphaModFix/>
          </a:blip>
          <a:srcRect b="320"/>
          <a:stretch/>
        </p:blipFill>
        <p:spPr>
          <a:xfrm rot="10799999">
            <a:off x="1983048" y="1909668"/>
            <a:ext cx="6453903" cy="646766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"/>
          <p:cNvSpPr txBox="1"/>
          <p:nvPr/>
        </p:nvSpPr>
        <p:spPr>
          <a:xfrm>
            <a:off x="2969013" y="3935700"/>
            <a:ext cx="4481973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Recap</a:t>
            </a:r>
            <a:endParaRPr/>
          </a:p>
        </p:txBody>
      </p:sp>
      <p:sp>
        <p:nvSpPr>
          <p:cNvPr id="182" name="Google Shape;182;p3"/>
          <p:cNvSpPr txBox="1"/>
          <p:nvPr/>
        </p:nvSpPr>
        <p:spPr>
          <a:xfrm>
            <a:off x="8893025" y="2340275"/>
            <a:ext cx="7173300" cy="55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cs-CZ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is assisting Social Buzz with its increasing business.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cs-CZ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are looking to complete an IPO by the end of next year and need guidance to ensure that this goes smoothly.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cs-CZ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need an audit of Social Buzz’s big data practices.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cs-CZ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of Social Buzz’s most popular categories for content.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4"/>
          <p:cNvGrpSpPr/>
          <p:nvPr/>
        </p:nvGrpSpPr>
        <p:grpSpPr>
          <a:xfrm>
            <a:off x="9144000" y="8195696"/>
            <a:ext cx="3545508" cy="3370302"/>
            <a:chOff x="0" y="0"/>
            <a:chExt cx="4727344" cy="4493736"/>
          </a:xfrm>
        </p:grpSpPr>
        <p:sp>
          <p:nvSpPr>
            <p:cNvPr id="192" name="Google Shape;192;p4"/>
            <p:cNvSpPr/>
            <p:nvPr/>
          </p:nvSpPr>
          <p:spPr>
            <a:xfrm>
              <a:off x="644072" y="410464"/>
              <a:ext cx="4083272" cy="4083272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3" name="Google Shape;193;p4"/>
            <p:cNvPicPr preferRelativeResize="0"/>
            <p:nvPr/>
          </p:nvPicPr>
          <p:blipFill rotWithShape="1">
            <a:blip r:embed="rId3">
              <a:alphaModFix/>
            </a:blip>
            <a:srcRect b="320"/>
            <a:stretch/>
          </p:blipFill>
          <p:spPr>
            <a:xfrm>
              <a:off x="0" y="0"/>
              <a:ext cx="4083272" cy="40919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4" name="Google Shape;194;p4"/>
          <p:cNvSpPr/>
          <p:nvPr/>
        </p:nvSpPr>
        <p:spPr>
          <a:xfrm>
            <a:off x="0" y="0"/>
            <a:ext cx="9964482" cy="10287000"/>
          </a:xfrm>
          <a:prstGeom prst="rect">
            <a:avLst/>
          </a:prstGeom>
          <a:solidFill>
            <a:srgbClr val="A100FF"/>
          </a:solidFill>
          <a:ln w="9525" cap="flat" cmpd="sng">
            <a:solidFill>
              <a:srgbClr val="A1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p4"/>
          <p:cNvGrpSpPr/>
          <p:nvPr/>
        </p:nvGrpSpPr>
        <p:grpSpPr>
          <a:xfrm>
            <a:off x="-146279" y="406153"/>
            <a:ext cx="2253799" cy="9474693"/>
            <a:chOff x="0" y="0"/>
            <a:chExt cx="3005065" cy="12632924"/>
          </a:xfrm>
        </p:grpSpPr>
        <p:pic>
          <p:nvPicPr>
            <p:cNvPr id="196" name="Google Shape;196;p4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0" y="0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4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0" y="3279405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4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0" y="6558809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4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0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4"/>
          <p:cNvGrpSpPr/>
          <p:nvPr/>
        </p:nvGrpSpPr>
        <p:grpSpPr>
          <a:xfrm>
            <a:off x="1298688" y="1348561"/>
            <a:ext cx="3554343" cy="3413097"/>
            <a:chOff x="0" y="-1"/>
            <a:chExt cx="4739124" cy="4550798"/>
          </a:xfrm>
        </p:grpSpPr>
        <p:sp>
          <p:nvSpPr>
            <p:cNvPr id="201" name="Google Shape;201;p4"/>
            <p:cNvSpPr/>
            <p:nvPr/>
          </p:nvSpPr>
          <p:spPr>
            <a:xfrm>
              <a:off x="0" y="656398"/>
              <a:ext cx="3894399" cy="3894399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96348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2" name="Google Shape;202;p4"/>
            <p:cNvPicPr preferRelativeResize="0"/>
            <p:nvPr/>
          </p:nvPicPr>
          <p:blipFill rotWithShape="1">
            <a:blip r:embed="rId5">
              <a:alphaModFix/>
            </a:blip>
            <a:srcRect b="320"/>
            <a:stretch/>
          </p:blipFill>
          <p:spPr>
            <a:xfrm rot="-5115457">
              <a:off x="686267" y="150511"/>
              <a:ext cx="3894400" cy="39027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" name="Google Shape;203;p4"/>
          <p:cNvGrpSpPr/>
          <p:nvPr/>
        </p:nvGrpSpPr>
        <p:grpSpPr>
          <a:xfrm>
            <a:off x="15986267" y="-1061348"/>
            <a:ext cx="3545508" cy="3370302"/>
            <a:chOff x="0" y="0"/>
            <a:chExt cx="4727344" cy="4493736"/>
          </a:xfrm>
        </p:grpSpPr>
        <p:sp>
          <p:nvSpPr>
            <p:cNvPr id="204" name="Google Shape;204;p4"/>
            <p:cNvSpPr/>
            <p:nvPr/>
          </p:nvSpPr>
          <p:spPr>
            <a:xfrm>
              <a:off x="644072" y="410464"/>
              <a:ext cx="4083272" cy="4083272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5" name="Google Shape;205;p4"/>
            <p:cNvPicPr preferRelativeResize="0"/>
            <p:nvPr/>
          </p:nvPicPr>
          <p:blipFill rotWithShape="1">
            <a:blip r:embed="rId3">
              <a:alphaModFix/>
            </a:blip>
            <a:srcRect b="320"/>
            <a:stretch/>
          </p:blipFill>
          <p:spPr>
            <a:xfrm>
              <a:off x="0" y="0"/>
              <a:ext cx="4083272" cy="409197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6" name="Google Shape;206;p4"/>
          <p:cNvPicPr preferRelativeResize="0"/>
          <p:nvPr/>
        </p:nvPicPr>
        <p:blipFill rotWithShape="1">
          <a:blip r:embed="rId6">
            <a:alphaModFix/>
          </a:blip>
          <a:srcRect l="24693" r="24692"/>
          <a:stretch/>
        </p:blipFill>
        <p:spPr>
          <a:xfrm>
            <a:off x="10532684" y="1028700"/>
            <a:ext cx="6251814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"/>
          <p:cNvSpPr txBox="1"/>
          <p:nvPr/>
        </p:nvSpPr>
        <p:spPr>
          <a:xfrm>
            <a:off x="4853022" y="2308950"/>
            <a:ext cx="4101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2991300" y="4986900"/>
            <a:ext cx="6657600" cy="4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Social Buzz has over 100’000 posts per day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35’500’000 pieces of content per year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can Social Buzz gain a competetive advantage with this data?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5"/>
          <p:cNvGrpSpPr/>
          <p:nvPr/>
        </p:nvGrpSpPr>
        <p:grpSpPr>
          <a:xfrm>
            <a:off x="506723" y="406153"/>
            <a:ext cx="9939844" cy="9474693"/>
            <a:chOff x="0" y="0"/>
            <a:chExt cx="13253125" cy="12632924"/>
          </a:xfrm>
        </p:grpSpPr>
        <p:pic>
          <p:nvPicPr>
            <p:cNvPr id="218" name="Google Shape;218;p5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416020" y="0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5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416020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5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0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5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3279405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5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6558809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5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5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6832040" y="0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5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6832040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5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248060" y="0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5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248060" y="3279405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5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248060" y="6558809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5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248060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0" name="Google Shape;230;p5"/>
          <p:cNvSpPr/>
          <p:nvPr/>
        </p:nvSpPr>
        <p:spPr>
          <a:xfrm>
            <a:off x="2110745" y="1825527"/>
            <a:ext cx="6750815" cy="66359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11825797" y="1270731"/>
            <a:ext cx="2085137" cy="2085137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4928870" y="0"/>
                  <a:pt x="6350000" y="1421130"/>
                  <a:pt x="6350000" y="3175000"/>
                </a:cubicBezTo>
                <a:cubicBezTo>
                  <a:pt x="6350000" y="4928870"/>
                  <a:pt x="4928870" y="6350000"/>
                  <a:pt x="3175000" y="6350000"/>
                </a:cubicBezTo>
                <a:cubicBezTo>
                  <a:pt x="1421130" y="6350000"/>
                  <a:pt x="0" y="4928870"/>
                  <a:pt x="0" y="3175000"/>
                </a:cubicBezTo>
                <a:cubicBezTo>
                  <a:pt x="0" y="1421130"/>
                  <a:pt x="1421130" y="0"/>
                  <a:pt x="3175000" y="0"/>
                </a:cubicBezTo>
                <a:close/>
              </a:path>
            </a:pathLst>
          </a:custGeom>
          <a:solidFill>
            <a:srgbClr val="A1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11825797" y="4221947"/>
            <a:ext cx="2085137" cy="2085137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4928870" y="0"/>
                  <a:pt x="6350000" y="1421130"/>
                  <a:pt x="6350000" y="3175000"/>
                </a:cubicBezTo>
                <a:cubicBezTo>
                  <a:pt x="6350000" y="4928870"/>
                  <a:pt x="4928870" y="6350000"/>
                  <a:pt x="3175000" y="6350000"/>
                </a:cubicBezTo>
                <a:cubicBezTo>
                  <a:pt x="1421130" y="6350000"/>
                  <a:pt x="0" y="4928870"/>
                  <a:pt x="0" y="3175000"/>
                </a:cubicBezTo>
                <a:cubicBezTo>
                  <a:pt x="0" y="1421130"/>
                  <a:pt x="1421130" y="0"/>
                  <a:pt x="3175000" y="0"/>
                </a:cubicBezTo>
                <a:close/>
              </a:path>
            </a:pathLst>
          </a:custGeom>
          <a:solidFill>
            <a:srgbClr val="A1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11825797" y="7173163"/>
            <a:ext cx="2085137" cy="2085137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4928870" y="0"/>
                  <a:pt x="6350000" y="1421130"/>
                  <a:pt x="6350000" y="3175000"/>
                </a:cubicBezTo>
                <a:cubicBezTo>
                  <a:pt x="6350000" y="4928870"/>
                  <a:pt x="4928870" y="6350000"/>
                  <a:pt x="3175000" y="6350000"/>
                </a:cubicBezTo>
                <a:cubicBezTo>
                  <a:pt x="1421130" y="6350000"/>
                  <a:pt x="0" y="4928870"/>
                  <a:pt x="0" y="3175000"/>
                </a:cubicBezTo>
                <a:cubicBezTo>
                  <a:pt x="0" y="1421130"/>
                  <a:pt x="1421130" y="0"/>
                  <a:pt x="3175000" y="0"/>
                </a:cubicBezTo>
                <a:close/>
              </a:path>
            </a:pathLst>
          </a:custGeom>
          <a:solidFill>
            <a:srgbClr val="A100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" name="Google Shape;234;p5"/>
          <p:cNvGrpSpPr/>
          <p:nvPr/>
        </p:nvGrpSpPr>
        <p:grpSpPr>
          <a:xfrm>
            <a:off x="11774841" y="1233061"/>
            <a:ext cx="2187044" cy="2122801"/>
            <a:chOff x="-23042" y="66269"/>
            <a:chExt cx="6542159" cy="6349987"/>
          </a:xfrm>
        </p:grpSpPr>
        <p:sp>
          <p:nvSpPr>
            <p:cNvPr id="235" name="Google Shape;235;p5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 extrusionOk="0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164249" t="1916" r="-22900" b="-93991"/>
              </a:stretch>
            </a:blipFill>
            <a:ln w="9525" cap="flat" cmpd="sng">
              <a:solidFill>
                <a:srgbClr val="00B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 extrusionOk="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" name="Google Shape;237;p5"/>
          <p:cNvSpPr txBox="1"/>
          <p:nvPr/>
        </p:nvSpPr>
        <p:spPr>
          <a:xfrm>
            <a:off x="2670508" y="3331799"/>
            <a:ext cx="5612273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Analytics team</a:t>
            </a:r>
            <a:endParaRPr/>
          </a:p>
        </p:txBody>
      </p:sp>
      <p:sp>
        <p:nvSpPr>
          <p:cNvPr id="238" name="Google Shape;238;p5"/>
          <p:cNvSpPr txBox="1"/>
          <p:nvPr/>
        </p:nvSpPr>
        <p:spPr>
          <a:xfrm>
            <a:off x="14051775" y="1270800"/>
            <a:ext cx="4236300" cy="20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Andrew Fleming</a:t>
            </a:r>
            <a:endParaRPr sz="3600" b="1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-Chief Technical Architect</a:t>
            </a:r>
            <a:endParaRPr sz="3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14051775" y="4162050"/>
            <a:ext cx="3815700" cy="19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Marcus Rompton</a:t>
            </a:r>
            <a:endParaRPr sz="3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-Senior Principal Analyst</a:t>
            </a:r>
            <a:endParaRPr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14204400" y="7163250"/>
            <a:ext cx="4236300" cy="20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Paul Cunningham</a:t>
            </a:r>
            <a:endParaRPr sz="3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-Data Analyst</a:t>
            </a:r>
            <a:endParaRPr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1" name="Google Shape;24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26212" y="7013288"/>
            <a:ext cx="2284301" cy="2384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54417" y="4046002"/>
            <a:ext cx="2607451" cy="2277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6"/>
          <p:cNvGrpSpPr/>
          <p:nvPr/>
        </p:nvGrpSpPr>
        <p:grpSpPr>
          <a:xfrm>
            <a:off x="445296" y="406153"/>
            <a:ext cx="10042534" cy="9474693"/>
            <a:chOff x="0" y="0"/>
            <a:chExt cx="13390046" cy="12632924"/>
          </a:xfrm>
        </p:grpSpPr>
        <p:pic>
          <p:nvPicPr>
            <p:cNvPr id="252" name="Google Shape;252;p6"/>
            <p:cNvPicPr preferRelativeResize="0"/>
            <p:nvPr/>
          </p:nvPicPr>
          <p:blipFill rotWithShape="1">
            <a:blip r:embed="rId3">
              <a:alphaModFix amt="80000"/>
            </a:blip>
            <a:srcRect r="10231"/>
            <a:stretch/>
          </p:blipFill>
          <p:spPr>
            <a:xfrm>
              <a:off x="6923321" y="6558809"/>
              <a:ext cx="2697587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6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6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6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6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6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0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6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3279405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6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6558809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6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0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6"/>
            <p:cNvPicPr preferRelativeResize="0"/>
            <p:nvPr/>
          </p:nvPicPr>
          <p:blipFill rotWithShape="1">
            <a:blip r:embed="rId3">
              <a:alphaModFix amt="80000"/>
            </a:blip>
            <a:srcRect/>
            <a:stretch/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2" name="Google Shape;262;p6"/>
          <p:cNvGrpSpPr/>
          <p:nvPr/>
        </p:nvGrpSpPr>
        <p:grpSpPr>
          <a:xfrm>
            <a:off x="1903391" y="1027892"/>
            <a:ext cx="1854962" cy="1781248"/>
            <a:chOff x="0" y="0"/>
            <a:chExt cx="2473282" cy="2374997"/>
          </a:xfrm>
        </p:grpSpPr>
        <p:sp>
          <p:nvSpPr>
            <p:cNvPr id="263" name="Google Shape;263;p6"/>
            <p:cNvSpPr/>
            <p:nvPr/>
          </p:nvSpPr>
          <p:spPr>
            <a:xfrm>
              <a:off x="0" y="342565"/>
              <a:ext cx="2032432" cy="2032432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2831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4" name="Google Shape;264;p6"/>
            <p:cNvPicPr preferRelativeResize="0"/>
            <p:nvPr/>
          </p:nvPicPr>
          <p:blipFill rotWithShape="1">
            <a:blip r:embed="rId4">
              <a:alphaModFix/>
            </a:blip>
            <a:srcRect b="320"/>
            <a:stretch/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5" name="Google Shape;265;p6"/>
          <p:cNvGrpSpPr/>
          <p:nvPr/>
        </p:nvGrpSpPr>
        <p:grpSpPr>
          <a:xfrm>
            <a:off x="3758754" y="2639980"/>
            <a:ext cx="1854962" cy="1781248"/>
            <a:chOff x="0" y="0"/>
            <a:chExt cx="2473282" cy="2374997"/>
          </a:xfrm>
        </p:grpSpPr>
        <p:sp>
          <p:nvSpPr>
            <p:cNvPr id="266" name="Google Shape;266;p6"/>
            <p:cNvSpPr/>
            <p:nvPr/>
          </p:nvSpPr>
          <p:spPr>
            <a:xfrm>
              <a:off x="0" y="342565"/>
              <a:ext cx="2032432" cy="2032432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2831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7" name="Google Shape;267;p6"/>
            <p:cNvPicPr preferRelativeResize="0"/>
            <p:nvPr/>
          </p:nvPicPr>
          <p:blipFill rotWithShape="1">
            <a:blip r:embed="rId4">
              <a:alphaModFix/>
            </a:blip>
            <a:srcRect b="320"/>
            <a:stretch/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" name="Google Shape;268;p6"/>
          <p:cNvGrpSpPr/>
          <p:nvPr/>
        </p:nvGrpSpPr>
        <p:grpSpPr>
          <a:xfrm>
            <a:off x="5614117" y="4252068"/>
            <a:ext cx="1854962" cy="1781248"/>
            <a:chOff x="0" y="0"/>
            <a:chExt cx="2473282" cy="2374997"/>
          </a:xfrm>
        </p:grpSpPr>
        <p:sp>
          <p:nvSpPr>
            <p:cNvPr id="269" name="Google Shape;269;p6"/>
            <p:cNvSpPr/>
            <p:nvPr/>
          </p:nvSpPr>
          <p:spPr>
            <a:xfrm>
              <a:off x="0" y="342565"/>
              <a:ext cx="2032432" cy="2032432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2831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0" name="Google Shape;270;p6"/>
            <p:cNvPicPr preferRelativeResize="0"/>
            <p:nvPr/>
          </p:nvPicPr>
          <p:blipFill rotWithShape="1">
            <a:blip r:embed="rId4">
              <a:alphaModFix/>
            </a:blip>
            <a:srcRect b="320"/>
            <a:stretch/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1" name="Google Shape;271;p6"/>
          <p:cNvGrpSpPr/>
          <p:nvPr/>
        </p:nvGrpSpPr>
        <p:grpSpPr>
          <a:xfrm>
            <a:off x="7469480" y="5864156"/>
            <a:ext cx="1854962" cy="1781248"/>
            <a:chOff x="0" y="0"/>
            <a:chExt cx="2473282" cy="2374997"/>
          </a:xfrm>
        </p:grpSpPr>
        <p:sp>
          <p:nvSpPr>
            <p:cNvPr id="272" name="Google Shape;272;p6"/>
            <p:cNvSpPr/>
            <p:nvPr/>
          </p:nvSpPr>
          <p:spPr>
            <a:xfrm>
              <a:off x="0" y="342565"/>
              <a:ext cx="2032432" cy="2032432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2831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3" name="Google Shape;273;p6"/>
            <p:cNvPicPr preferRelativeResize="0"/>
            <p:nvPr/>
          </p:nvPicPr>
          <p:blipFill rotWithShape="1">
            <a:blip r:embed="rId4">
              <a:alphaModFix/>
            </a:blip>
            <a:srcRect b="320"/>
            <a:stretch/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" name="Google Shape;274;p6"/>
          <p:cNvGrpSpPr/>
          <p:nvPr/>
        </p:nvGrpSpPr>
        <p:grpSpPr>
          <a:xfrm>
            <a:off x="9324843" y="7476244"/>
            <a:ext cx="1854962" cy="1781248"/>
            <a:chOff x="0" y="0"/>
            <a:chExt cx="2473282" cy="2374997"/>
          </a:xfrm>
        </p:grpSpPr>
        <p:sp>
          <p:nvSpPr>
            <p:cNvPr id="275" name="Google Shape;275;p6"/>
            <p:cNvSpPr/>
            <p:nvPr/>
          </p:nvSpPr>
          <p:spPr>
            <a:xfrm>
              <a:off x="0" y="342565"/>
              <a:ext cx="2032432" cy="2032432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2831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6" name="Google Shape;276;p6"/>
            <p:cNvPicPr preferRelativeResize="0"/>
            <p:nvPr/>
          </p:nvPicPr>
          <p:blipFill rotWithShape="1">
            <a:blip r:embed="rId4">
              <a:alphaModFix/>
            </a:blip>
            <a:srcRect b="320"/>
            <a:stretch/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6"/>
          <p:cNvSpPr txBox="1"/>
          <p:nvPr/>
        </p:nvSpPr>
        <p:spPr>
          <a:xfrm>
            <a:off x="10667818" y="1028700"/>
            <a:ext cx="6642545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sp>
        <p:nvSpPr>
          <p:cNvPr id="278" name="Google Shape;278;p6"/>
          <p:cNvSpPr txBox="1"/>
          <p:nvPr/>
        </p:nvSpPr>
        <p:spPr>
          <a:xfrm>
            <a:off x="2630944" y="1372359"/>
            <a:ext cx="1229487" cy="95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71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9" name="Google Shape;279;p6"/>
          <p:cNvSpPr txBox="1"/>
          <p:nvPr/>
        </p:nvSpPr>
        <p:spPr>
          <a:xfrm>
            <a:off x="4534646" y="2984043"/>
            <a:ext cx="1229487" cy="95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71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80" name="Google Shape;280;p6"/>
          <p:cNvSpPr txBox="1"/>
          <p:nvPr/>
        </p:nvSpPr>
        <p:spPr>
          <a:xfrm>
            <a:off x="10108223" y="7828620"/>
            <a:ext cx="1229487" cy="95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71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81" name="Google Shape;281;p6"/>
          <p:cNvSpPr txBox="1"/>
          <p:nvPr/>
        </p:nvSpPr>
        <p:spPr>
          <a:xfrm>
            <a:off x="8193880" y="6204766"/>
            <a:ext cx="1229487" cy="95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71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82" name="Google Shape;282;p6"/>
          <p:cNvSpPr txBox="1"/>
          <p:nvPr/>
        </p:nvSpPr>
        <p:spPr>
          <a:xfrm>
            <a:off x="6396750" y="4605252"/>
            <a:ext cx="1229487" cy="95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71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83" name="Google Shape;283;p6"/>
          <p:cNvSpPr txBox="1"/>
          <p:nvPr/>
        </p:nvSpPr>
        <p:spPr>
          <a:xfrm>
            <a:off x="3955450" y="1218600"/>
            <a:ext cx="8883000" cy="14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problems with Social Buzz with a brief</a:t>
            </a:r>
            <a:b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(Data Understanding)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 txBox="1"/>
          <p:nvPr/>
        </p:nvSpPr>
        <p:spPr>
          <a:xfrm>
            <a:off x="5748925" y="2737100"/>
            <a:ext cx="63492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Extract and clean datasets submitted by Social Buzz for analysis</a:t>
            </a:r>
            <a:b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(Data Cleaning)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 txBox="1"/>
          <p:nvPr/>
        </p:nvSpPr>
        <p:spPr>
          <a:xfrm>
            <a:off x="7641475" y="4477025"/>
            <a:ext cx="88830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Compile the relevant information into one dataset</a:t>
            </a:r>
            <a:b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(Data Modelling)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9564575" y="5976625"/>
            <a:ext cx="77457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patterns and trends that Social Buzz can use to gain a competitive advantage</a:t>
            </a:r>
            <a:b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(Data Analysis)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 txBox="1"/>
          <p:nvPr/>
        </p:nvSpPr>
        <p:spPr>
          <a:xfrm>
            <a:off x="11487650" y="7773750"/>
            <a:ext cx="5555700" cy="14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Uncover Insights that Social Buzz can use to gain a competitive advantage</a:t>
            </a:r>
            <a:br>
              <a:rPr lang="cs-CZ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7159" y="6480806"/>
            <a:ext cx="2972219" cy="88175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7"/>
          <p:cNvSpPr txBox="1"/>
          <p:nvPr/>
        </p:nvSpPr>
        <p:spPr>
          <a:xfrm>
            <a:off x="1028700" y="860915"/>
            <a:ext cx="4636129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endParaRPr/>
          </a:p>
        </p:txBody>
      </p:sp>
      <p:grpSp>
        <p:nvGrpSpPr>
          <p:cNvPr id="298" name="Google Shape;298;p7"/>
          <p:cNvGrpSpPr/>
          <p:nvPr/>
        </p:nvGrpSpPr>
        <p:grpSpPr>
          <a:xfrm>
            <a:off x="517112" y="7810500"/>
            <a:ext cx="17253775" cy="2017079"/>
            <a:chOff x="0" y="0"/>
            <a:chExt cx="23005033" cy="2689439"/>
          </a:xfrm>
        </p:grpSpPr>
        <p:pic>
          <p:nvPicPr>
            <p:cNvPr id="299" name="Google Shape;299;p7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16760969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7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13408776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7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10056582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7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20113163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7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6704388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7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3352194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7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0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6" name="Google Shape;30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2183" y="6480309"/>
            <a:ext cx="2972219" cy="881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70342" y="6480309"/>
            <a:ext cx="2972219" cy="881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6300" y="2246366"/>
            <a:ext cx="9635400" cy="40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10143618" y="5003701"/>
            <a:ext cx="942466" cy="279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10143618" y="2227332"/>
            <a:ext cx="942466" cy="279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10143618" y="7780070"/>
            <a:ext cx="942466" cy="279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0"/>
          <p:cNvPicPr preferRelativeResize="0"/>
          <p:nvPr/>
        </p:nvPicPr>
        <p:blipFill rotWithShape="1">
          <a:blip r:embed="rId4">
            <a:alphaModFix/>
          </a:blip>
          <a:srcRect l="4068" t="1616" r="4069" b="1617"/>
          <a:stretch/>
        </p:blipFill>
        <p:spPr>
          <a:xfrm>
            <a:off x="5717896" y="1161805"/>
            <a:ext cx="5036754" cy="796339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0"/>
          <p:cNvSpPr txBox="1"/>
          <p:nvPr/>
        </p:nvSpPr>
        <p:spPr>
          <a:xfrm>
            <a:off x="457200" y="4539600"/>
            <a:ext cx="4703553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grpSp>
        <p:nvGrpSpPr>
          <p:cNvPr id="384" name="Google Shape;384;p10"/>
          <p:cNvGrpSpPr/>
          <p:nvPr/>
        </p:nvGrpSpPr>
        <p:grpSpPr>
          <a:xfrm>
            <a:off x="327032" y="9481425"/>
            <a:ext cx="9711339" cy="2017079"/>
            <a:chOff x="0" y="0"/>
            <a:chExt cx="12948452" cy="2689439"/>
          </a:xfrm>
        </p:grpSpPr>
        <p:pic>
          <p:nvPicPr>
            <p:cNvPr id="385" name="Google Shape;385;p10"/>
            <p:cNvPicPr preferRelativeResize="0"/>
            <p:nvPr/>
          </p:nvPicPr>
          <p:blipFill rotWithShape="1">
            <a:blip r:embed="rId5">
              <a:alphaModFix amt="80000"/>
            </a:blip>
            <a:srcRect/>
            <a:stretch/>
          </p:blipFill>
          <p:spPr>
            <a:xfrm>
              <a:off x="10056582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10"/>
            <p:cNvPicPr preferRelativeResize="0"/>
            <p:nvPr/>
          </p:nvPicPr>
          <p:blipFill rotWithShape="1">
            <a:blip r:embed="rId5">
              <a:alphaModFix amt="80000"/>
            </a:blip>
            <a:srcRect/>
            <a:stretch/>
          </p:blipFill>
          <p:spPr>
            <a:xfrm>
              <a:off x="6704388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10"/>
            <p:cNvPicPr preferRelativeResize="0"/>
            <p:nvPr/>
          </p:nvPicPr>
          <p:blipFill rotWithShape="1">
            <a:blip r:embed="rId5">
              <a:alphaModFix amt="80000"/>
            </a:blip>
            <a:srcRect/>
            <a:stretch/>
          </p:blipFill>
          <p:spPr>
            <a:xfrm>
              <a:off x="3352194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10"/>
            <p:cNvPicPr preferRelativeResize="0"/>
            <p:nvPr/>
          </p:nvPicPr>
          <p:blipFill rotWithShape="1">
            <a:blip r:embed="rId5">
              <a:alphaModFix amt="80000"/>
            </a:blip>
            <a:srcRect/>
            <a:stretch/>
          </p:blipFill>
          <p:spPr>
            <a:xfrm>
              <a:off x="0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9" name="Google Shape;389;p10"/>
          <p:cNvGrpSpPr/>
          <p:nvPr/>
        </p:nvGrpSpPr>
        <p:grpSpPr>
          <a:xfrm>
            <a:off x="327032" y="-1179605"/>
            <a:ext cx="9711339" cy="2017079"/>
            <a:chOff x="0" y="0"/>
            <a:chExt cx="12948452" cy="2689439"/>
          </a:xfrm>
        </p:grpSpPr>
        <p:pic>
          <p:nvPicPr>
            <p:cNvPr id="390" name="Google Shape;390;p10"/>
            <p:cNvPicPr preferRelativeResize="0"/>
            <p:nvPr/>
          </p:nvPicPr>
          <p:blipFill rotWithShape="1">
            <a:blip r:embed="rId5">
              <a:alphaModFix amt="80000"/>
            </a:blip>
            <a:srcRect/>
            <a:stretch/>
          </p:blipFill>
          <p:spPr>
            <a:xfrm>
              <a:off x="10056582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10"/>
            <p:cNvPicPr preferRelativeResize="0"/>
            <p:nvPr/>
          </p:nvPicPr>
          <p:blipFill rotWithShape="1">
            <a:blip r:embed="rId5">
              <a:alphaModFix amt="80000"/>
            </a:blip>
            <a:srcRect/>
            <a:stretch/>
          </p:blipFill>
          <p:spPr>
            <a:xfrm>
              <a:off x="6704388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10"/>
            <p:cNvPicPr preferRelativeResize="0"/>
            <p:nvPr/>
          </p:nvPicPr>
          <p:blipFill rotWithShape="1">
            <a:blip r:embed="rId5">
              <a:alphaModFix amt="80000"/>
            </a:blip>
            <a:srcRect/>
            <a:stretch/>
          </p:blipFill>
          <p:spPr>
            <a:xfrm>
              <a:off x="3352194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10"/>
            <p:cNvPicPr preferRelativeResize="0"/>
            <p:nvPr/>
          </p:nvPicPr>
          <p:blipFill rotWithShape="1">
            <a:blip r:embed="rId5">
              <a:alphaModFix amt="80000"/>
            </a:blip>
            <a:srcRect/>
            <a:stretch/>
          </p:blipFill>
          <p:spPr>
            <a:xfrm>
              <a:off x="0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4" name="Google Shape;394;p10"/>
          <p:cNvGrpSpPr/>
          <p:nvPr/>
        </p:nvGrpSpPr>
        <p:grpSpPr>
          <a:xfrm>
            <a:off x="11581833" y="1580430"/>
            <a:ext cx="5677467" cy="867617"/>
            <a:chOff x="0" y="-47625"/>
            <a:chExt cx="7569956" cy="1156823"/>
          </a:xfrm>
        </p:grpSpPr>
        <p:sp>
          <p:nvSpPr>
            <p:cNvPr id="395" name="Google Shape;395;p10"/>
            <p:cNvSpPr txBox="1"/>
            <p:nvPr/>
          </p:nvSpPr>
          <p:spPr>
            <a:xfrm>
              <a:off x="0" y="691990"/>
              <a:ext cx="7569956" cy="417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0"/>
            <p:cNvSpPr txBox="1"/>
            <p:nvPr/>
          </p:nvSpPr>
          <p:spPr>
            <a:xfrm>
              <a:off x="0" y="-47625"/>
              <a:ext cx="7569956" cy="4517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7" name="Google Shape;397;p10"/>
          <p:cNvGrpSpPr/>
          <p:nvPr/>
        </p:nvGrpSpPr>
        <p:grpSpPr>
          <a:xfrm>
            <a:off x="11581833" y="6964868"/>
            <a:ext cx="5677467" cy="867617"/>
            <a:chOff x="0" y="-47625"/>
            <a:chExt cx="7569956" cy="1156823"/>
          </a:xfrm>
        </p:grpSpPr>
        <p:sp>
          <p:nvSpPr>
            <p:cNvPr id="398" name="Google Shape;398;p10"/>
            <p:cNvSpPr txBox="1"/>
            <p:nvPr/>
          </p:nvSpPr>
          <p:spPr>
            <a:xfrm>
              <a:off x="0" y="691990"/>
              <a:ext cx="7569956" cy="417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0"/>
            <p:cNvSpPr txBox="1"/>
            <p:nvPr/>
          </p:nvSpPr>
          <p:spPr>
            <a:xfrm>
              <a:off x="0" y="-47625"/>
              <a:ext cx="7569956" cy="4517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"/>
          <p:cNvSpPr txBox="1"/>
          <p:nvPr/>
        </p:nvSpPr>
        <p:spPr>
          <a:xfrm>
            <a:off x="5421913" y="5552246"/>
            <a:ext cx="5385738" cy="412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ANY QUESTIONS?</a:t>
            </a:r>
            <a:endParaRPr/>
          </a:p>
        </p:txBody>
      </p:sp>
      <p:grpSp>
        <p:nvGrpSpPr>
          <p:cNvPr id="409" name="Google Shape;409;p11"/>
          <p:cNvGrpSpPr/>
          <p:nvPr/>
        </p:nvGrpSpPr>
        <p:grpSpPr>
          <a:xfrm>
            <a:off x="728428" y="3599225"/>
            <a:ext cx="3546595" cy="3371248"/>
            <a:chOff x="0" y="0"/>
            <a:chExt cx="4728794" cy="4494997"/>
          </a:xfrm>
        </p:grpSpPr>
        <p:sp>
          <p:nvSpPr>
            <p:cNvPr id="410" name="Google Shape;410;p11"/>
            <p:cNvSpPr/>
            <p:nvPr/>
          </p:nvSpPr>
          <p:spPr>
            <a:xfrm>
              <a:off x="782946" y="549149"/>
              <a:ext cx="3945848" cy="3945848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11" name="Google Shape;411;p11"/>
            <p:cNvPicPr preferRelativeResize="0"/>
            <p:nvPr/>
          </p:nvPicPr>
          <p:blipFill rotWithShape="1">
            <a:blip r:embed="rId3">
              <a:alphaModFix/>
            </a:blip>
            <a:srcRect b="320"/>
            <a:stretch/>
          </p:blipFill>
          <p:spPr>
            <a:xfrm rot="-5115457">
              <a:off x="160550" y="152500"/>
              <a:ext cx="3945848" cy="39542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2" name="Google Shape;412;p11"/>
          <p:cNvSpPr txBox="1"/>
          <p:nvPr/>
        </p:nvSpPr>
        <p:spPr>
          <a:xfrm>
            <a:off x="4669076" y="4178375"/>
            <a:ext cx="5729829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grpSp>
        <p:nvGrpSpPr>
          <p:cNvPr id="413" name="Google Shape;413;p11"/>
          <p:cNvGrpSpPr/>
          <p:nvPr/>
        </p:nvGrpSpPr>
        <p:grpSpPr>
          <a:xfrm>
            <a:off x="517113" y="-1140306"/>
            <a:ext cx="17253775" cy="2017079"/>
            <a:chOff x="0" y="0"/>
            <a:chExt cx="23005033" cy="2689439"/>
          </a:xfrm>
        </p:grpSpPr>
        <p:pic>
          <p:nvPicPr>
            <p:cNvPr id="414" name="Google Shape;414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16760969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13408776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10056582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20113163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8" name="Google Shape;418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6704388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3352194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0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1" name="Google Shape;421;p11"/>
          <p:cNvGrpSpPr/>
          <p:nvPr/>
        </p:nvGrpSpPr>
        <p:grpSpPr>
          <a:xfrm>
            <a:off x="517113" y="9394369"/>
            <a:ext cx="17253775" cy="2017079"/>
            <a:chOff x="0" y="0"/>
            <a:chExt cx="23005033" cy="2689439"/>
          </a:xfrm>
        </p:grpSpPr>
        <p:pic>
          <p:nvPicPr>
            <p:cNvPr id="422" name="Google Shape;422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16760969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3" name="Google Shape;423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13408776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10056582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" name="Google Shape;425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20113163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" name="Google Shape;426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6704388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3352194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p11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0" y="0"/>
              <a:ext cx="2891870" cy="26894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Custom</PresentationFormat>
  <Paragraphs>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Roboto</vt:lpstr>
      <vt:lpstr>Arial</vt:lpstr>
      <vt:lpstr>Calibri</vt:lpstr>
      <vt:lpstr>Lexend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Kevin Dang</dc:creator>
  <cp:lastModifiedBy>Paul Cunningham</cp:lastModifiedBy>
  <cp:revision>1</cp:revision>
  <dcterms:created xsi:type="dcterms:W3CDTF">2006-08-16T00:00:00Z</dcterms:created>
  <dcterms:modified xsi:type="dcterms:W3CDTF">2026-05-22T21:46:18Z</dcterms:modified>
</cp:coreProperties>
</file>